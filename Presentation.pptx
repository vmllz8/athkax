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t Nuvo" charset="1" panose="00000000000000000000"/>
      <p:regular r:id="rId15"/>
    </p:embeddedFont>
    <p:embeddedFont>
      <p:font typeface="Lulu Font TH" charset="1" panose="02000503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cs.langchain.com/oss/python/langgraph/case-studies?utm_source=chatgpt.com" TargetMode="External" Type="http://schemas.openxmlformats.org/officeDocument/2006/relationships/hyperlink"/><Relationship Id="rId11" Target="https://www.linkedin.com/blog/engineering/ai/how-we-engineered-linkedins-hiring-assistant?utm_source=chatgpt.com" TargetMode="External" Type="http://schemas.openxmlformats.org/officeDocument/2006/relationships/hyperlink"/><Relationship Id="rId12" Target="https://www.youtube.com/watch?v=NmblVxyBhi8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921673">
            <a:off x="-3950244" y="-4185225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3"/>
                </a:lnTo>
                <a:lnTo>
                  <a:pt x="0" y="802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38562">
            <a:off x="14532449" y="5533314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6" y="0"/>
                </a:lnTo>
                <a:lnTo>
                  <a:pt x="8277886" y="8022023"/>
                </a:lnTo>
                <a:lnTo>
                  <a:pt x="0" y="802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38562">
            <a:off x="15120038" y="6113260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3"/>
                </a:lnTo>
                <a:lnTo>
                  <a:pt x="0" y="802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921673">
            <a:off x="-4410616" y="-4719321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38562">
            <a:off x="15807061" y="6424593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6" y="0"/>
                </a:lnTo>
                <a:lnTo>
                  <a:pt x="8277886" y="8022023"/>
                </a:lnTo>
                <a:lnTo>
                  <a:pt x="0" y="8022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921673">
            <a:off x="-4833851" y="-5218519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6" y="0"/>
                </a:lnTo>
                <a:lnTo>
                  <a:pt x="8277886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46128" y="8839789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83535" y="9262339"/>
            <a:ext cx="744378" cy="721370"/>
          </a:xfrm>
          <a:custGeom>
            <a:avLst/>
            <a:gdLst/>
            <a:ahLst/>
            <a:cxnLst/>
            <a:rect r="r" b="b" t="t" l="l"/>
            <a:pathLst>
              <a:path h="721370" w="744378">
                <a:moveTo>
                  <a:pt x="0" y="0"/>
                </a:moveTo>
                <a:lnTo>
                  <a:pt x="744378" y="0"/>
                </a:lnTo>
                <a:lnTo>
                  <a:pt x="744378" y="721370"/>
                </a:lnTo>
                <a:lnTo>
                  <a:pt x="0" y="7213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44415" y="386521"/>
            <a:ext cx="765217" cy="741565"/>
          </a:xfrm>
          <a:custGeom>
            <a:avLst/>
            <a:gdLst/>
            <a:ahLst/>
            <a:cxnLst/>
            <a:rect r="r" b="b" t="t" l="l"/>
            <a:pathLst>
              <a:path h="741565" w="765217">
                <a:moveTo>
                  <a:pt x="0" y="0"/>
                </a:moveTo>
                <a:lnTo>
                  <a:pt x="765217" y="0"/>
                </a:lnTo>
                <a:lnTo>
                  <a:pt x="765217" y="741565"/>
                </a:lnTo>
                <a:lnTo>
                  <a:pt x="0" y="741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823997" y="-164813"/>
            <a:ext cx="889424" cy="861933"/>
          </a:xfrm>
          <a:custGeom>
            <a:avLst/>
            <a:gdLst/>
            <a:ahLst/>
            <a:cxnLst/>
            <a:rect r="r" b="b" t="t" l="l"/>
            <a:pathLst>
              <a:path h="861933" w="889424">
                <a:moveTo>
                  <a:pt x="0" y="0"/>
                </a:moveTo>
                <a:lnTo>
                  <a:pt x="889424" y="0"/>
                </a:lnTo>
                <a:lnTo>
                  <a:pt x="889424" y="861933"/>
                </a:lnTo>
                <a:lnTo>
                  <a:pt x="0" y="861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31562" y="4667666"/>
            <a:ext cx="727738" cy="705244"/>
          </a:xfrm>
          <a:custGeom>
            <a:avLst/>
            <a:gdLst/>
            <a:ahLst/>
            <a:cxnLst/>
            <a:rect r="r" b="b" t="t" l="l"/>
            <a:pathLst>
              <a:path h="705244" w="727738">
                <a:moveTo>
                  <a:pt x="0" y="0"/>
                </a:moveTo>
                <a:lnTo>
                  <a:pt x="727738" y="0"/>
                </a:lnTo>
                <a:lnTo>
                  <a:pt x="727738" y="705244"/>
                </a:lnTo>
                <a:lnTo>
                  <a:pt x="0" y="705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23748" y="3986320"/>
            <a:ext cx="656262" cy="635977"/>
          </a:xfrm>
          <a:custGeom>
            <a:avLst/>
            <a:gdLst/>
            <a:ahLst/>
            <a:cxnLst/>
            <a:rect r="r" b="b" t="t" l="l"/>
            <a:pathLst>
              <a:path h="635977" w="656262">
                <a:moveTo>
                  <a:pt x="0" y="0"/>
                </a:moveTo>
                <a:lnTo>
                  <a:pt x="656261" y="0"/>
                </a:lnTo>
                <a:lnTo>
                  <a:pt x="656261" y="635978"/>
                </a:lnTo>
                <a:lnTo>
                  <a:pt x="0" y="635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111306" y="9856034"/>
            <a:ext cx="889424" cy="861933"/>
          </a:xfrm>
          <a:custGeom>
            <a:avLst/>
            <a:gdLst/>
            <a:ahLst/>
            <a:cxnLst/>
            <a:rect r="r" b="b" t="t" l="l"/>
            <a:pathLst>
              <a:path h="861933" w="889424">
                <a:moveTo>
                  <a:pt x="0" y="0"/>
                </a:moveTo>
                <a:lnTo>
                  <a:pt x="889424" y="0"/>
                </a:lnTo>
                <a:lnTo>
                  <a:pt x="889424" y="861932"/>
                </a:lnTo>
                <a:lnTo>
                  <a:pt x="0" y="8619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451162" y="-174214"/>
            <a:ext cx="889424" cy="861933"/>
          </a:xfrm>
          <a:custGeom>
            <a:avLst/>
            <a:gdLst/>
            <a:ahLst/>
            <a:cxnLst/>
            <a:rect r="r" b="b" t="t" l="l"/>
            <a:pathLst>
              <a:path h="861933" w="889424">
                <a:moveTo>
                  <a:pt x="0" y="0"/>
                </a:moveTo>
                <a:lnTo>
                  <a:pt x="889424" y="0"/>
                </a:lnTo>
                <a:lnTo>
                  <a:pt x="889424" y="861933"/>
                </a:lnTo>
                <a:lnTo>
                  <a:pt x="0" y="861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465896" y="482205"/>
            <a:ext cx="3730721" cy="1291762"/>
          </a:xfrm>
          <a:custGeom>
            <a:avLst/>
            <a:gdLst/>
            <a:ahLst/>
            <a:cxnLst/>
            <a:rect r="r" b="b" t="t" l="l"/>
            <a:pathLst>
              <a:path h="1291762" w="3730721">
                <a:moveTo>
                  <a:pt x="0" y="0"/>
                </a:moveTo>
                <a:lnTo>
                  <a:pt x="3730721" y="0"/>
                </a:lnTo>
                <a:lnTo>
                  <a:pt x="3730721" y="1291762"/>
                </a:lnTo>
                <a:lnTo>
                  <a:pt x="0" y="129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99592" y="6614598"/>
            <a:ext cx="3248311" cy="3102864"/>
          </a:xfrm>
          <a:custGeom>
            <a:avLst/>
            <a:gdLst/>
            <a:ahLst/>
            <a:cxnLst/>
            <a:rect r="r" b="b" t="t" l="l"/>
            <a:pathLst>
              <a:path h="3102864" w="3248311">
                <a:moveTo>
                  <a:pt x="0" y="0"/>
                </a:moveTo>
                <a:lnTo>
                  <a:pt x="3248311" y="0"/>
                </a:lnTo>
                <a:lnTo>
                  <a:pt x="3248311" y="3102864"/>
                </a:lnTo>
                <a:lnTo>
                  <a:pt x="0" y="31028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697" t="-14648" r="-126790" b="-11231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680009" y="3685015"/>
            <a:ext cx="13545482" cy="361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8"/>
              </a:lnSpc>
            </a:pPr>
            <a:r>
              <a:rPr lang="en-US" sz="9923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C</a:t>
            </a:r>
            <a:r>
              <a:rPr lang="en-US" sz="9923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ase Study: LinkedIn AI Agent using LangGraph</a:t>
            </a:r>
          </a:p>
          <a:p>
            <a:pPr algn="ctr">
              <a:lnSpc>
                <a:spcPts val="922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125586" y="6681273"/>
            <a:ext cx="7875144" cy="203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3"/>
              </a:lnSpc>
            </a:pPr>
            <a:r>
              <a:rPr lang="en-US" sz="2896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References:</a:t>
            </a:r>
          </a:p>
          <a:p>
            <a:pPr algn="l" marL="625311" indent="-312655" lvl="1">
              <a:lnSpc>
                <a:spcPts val="2693"/>
              </a:lnSpc>
              <a:buFont typeface="Arial"/>
              <a:buChar char="•"/>
            </a:pPr>
            <a:r>
              <a:rPr lang="en-US" sz="2896" u="sng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  <a:hlinkClick r:id="rId10" tooltip="https://docs.langchain.com/oss/python/langgraph/case-studies?utm_source=chatgpt.com"/>
              </a:rPr>
              <a:t>Case studies</a:t>
            </a:r>
          </a:p>
          <a:p>
            <a:pPr algn="l" marL="625311" indent="-312655" lvl="1">
              <a:lnSpc>
                <a:spcPts val="2693"/>
              </a:lnSpc>
              <a:buFont typeface="Arial"/>
              <a:buChar char="•"/>
            </a:pPr>
            <a:r>
              <a:rPr lang="en-US" sz="2896" u="sng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  <a:hlinkClick r:id="rId11" tooltip="https://www.linkedin.com/blog/engineering/ai/how-we-engineered-linkedins-hiring-assistant?utm_source=chatgpt.com"/>
              </a:rPr>
              <a:t>Building the agentic future of recruiting: how we engineered LinkedIn’s Hiring Assistant</a:t>
            </a:r>
          </a:p>
          <a:p>
            <a:pPr algn="l" marL="625311" indent="-312655" lvl="1">
              <a:lnSpc>
                <a:spcPts val="2693"/>
              </a:lnSpc>
              <a:buFont typeface="Arial"/>
              <a:buChar char="•"/>
            </a:pPr>
            <a:r>
              <a:rPr lang="en-US" sz="2896" u="sng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  <a:hlinkClick r:id="rId12" tooltip="https://www.youtube.com/watch?v=NmblVxyBhi8"/>
              </a:rPr>
              <a:t>How LinkedIn Built Their First AI Agent for Hiring with LangGraph | LangChain Interrupt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59180">
            <a:off x="-5854811" y="-4513792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3"/>
                </a:lnTo>
                <a:lnTo>
                  <a:pt x="0" y="802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59180">
            <a:off x="16346744" y="6533164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6" y="0"/>
                </a:lnTo>
                <a:lnTo>
                  <a:pt x="8277886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5883" y="2258211"/>
            <a:ext cx="14636235" cy="4632570"/>
          </a:xfrm>
          <a:custGeom>
            <a:avLst/>
            <a:gdLst/>
            <a:ahLst/>
            <a:cxnLst/>
            <a:rect r="r" b="b" t="t" l="l"/>
            <a:pathLst>
              <a:path h="4632570" w="14636235">
                <a:moveTo>
                  <a:pt x="0" y="0"/>
                </a:moveTo>
                <a:lnTo>
                  <a:pt x="14636234" y="0"/>
                </a:lnTo>
                <a:lnTo>
                  <a:pt x="14636234" y="4632570"/>
                </a:lnTo>
                <a:lnTo>
                  <a:pt x="0" y="4632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29503" y="691859"/>
            <a:ext cx="11028993" cy="135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Case Overview: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996330" y="5324340"/>
            <a:ext cx="14295340" cy="4524672"/>
          </a:xfrm>
          <a:custGeom>
            <a:avLst/>
            <a:gdLst/>
            <a:ahLst/>
            <a:cxnLst/>
            <a:rect r="r" b="b" t="t" l="l"/>
            <a:pathLst>
              <a:path h="4524672" w="14295340">
                <a:moveTo>
                  <a:pt x="0" y="0"/>
                </a:moveTo>
                <a:lnTo>
                  <a:pt x="14295340" y="0"/>
                </a:lnTo>
                <a:lnTo>
                  <a:pt x="14295340" y="4524672"/>
                </a:lnTo>
                <a:lnTo>
                  <a:pt x="0" y="45246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03550" y="2570408"/>
            <a:ext cx="19491502" cy="652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93"/>
              </a:lnSpc>
            </a:pPr>
          </a:p>
          <a:p>
            <a:pPr algn="just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Company: LinkedIn</a:t>
            </a:r>
          </a:p>
          <a:p>
            <a:pPr algn="just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Industry:  Recruiting Technology</a:t>
            </a:r>
          </a:p>
          <a:p>
            <a:pPr algn="just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Use Case: AI Hiring Assistant for recruiters</a:t>
            </a:r>
          </a:p>
          <a:p>
            <a:pPr algn="just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Presented by: Mozn alzunidi </a:t>
            </a:r>
          </a:p>
          <a:p>
            <a:pPr algn="just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University: Majmaah University</a:t>
            </a:r>
          </a:p>
          <a:p>
            <a:pPr algn="just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Major: Computer Science, Data Science Track </a:t>
            </a:r>
          </a:p>
          <a:p>
            <a:pPr algn="just">
              <a:lnSpc>
                <a:spcPts val="649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74700" y="4775724"/>
            <a:ext cx="8543933" cy="8279847"/>
          </a:xfrm>
          <a:custGeom>
            <a:avLst/>
            <a:gdLst/>
            <a:ahLst/>
            <a:cxnLst/>
            <a:rect r="r" b="b" t="t" l="l"/>
            <a:pathLst>
              <a:path h="8279847" w="8543933">
                <a:moveTo>
                  <a:pt x="0" y="0"/>
                </a:moveTo>
                <a:lnTo>
                  <a:pt x="8543933" y="0"/>
                </a:lnTo>
                <a:lnTo>
                  <a:pt x="8543933" y="8279847"/>
                </a:lnTo>
                <a:lnTo>
                  <a:pt x="0" y="8279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918767" y="4775724"/>
            <a:ext cx="8543933" cy="8279847"/>
          </a:xfrm>
          <a:custGeom>
            <a:avLst/>
            <a:gdLst/>
            <a:ahLst/>
            <a:cxnLst/>
            <a:rect r="r" b="b" t="t" l="l"/>
            <a:pathLst>
              <a:path h="8279847" w="8543933">
                <a:moveTo>
                  <a:pt x="8543933" y="0"/>
                </a:moveTo>
                <a:lnTo>
                  <a:pt x="0" y="0"/>
                </a:lnTo>
                <a:lnTo>
                  <a:pt x="0" y="8279847"/>
                </a:lnTo>
                <a:lnTo>
                  <a:pt x="8543933" y="8279847"/>
                </a:lnTo>
                <a:lnTo>
                  <a:pt x="8543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59767" y="1956538"/>
            <a:ext cx="11310571" cy="2426632"/>
          </a:xfrm>
          <a:custGeom>
            <a:avLst/>
            <a:gdLst/>
            <a:ahLst/>
            <a:cxnLst/>
            <a:rect r="r" b="b" t="t" l="l"/>
            <a:pathLst>
              <a:path h="2426632" w="11310571">
                <a:moveTo>
                  <a:pt x="0" y="0"/>
                </a:moveTo>
                <a:lnTo>
                  <a:pt x="11310571" y="0"/>
                </a:lnTo>
                <a:lnTo>
                  <a:pt x="11310571" y="2426632"/>
                </a:lnTo>
                <a:lnTo>
                  <a:pt x="0" y="2426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495518" y="6489016"/>
            <a:ext cx="11310571" cy="2426632"/>
          </a:xfrm>
          <a:custGeom>
            <a:avLst/>
            <a:gdLst/>
            <a:ahLst/>
            <a:cxnLst/>
            <a:rect r="r" b="b" t="t" l="l"/>
            <a:pathLst>
              <a:path h="2426632" w="11310571">
                <a:moveTo>
                  <a:pt x="0" y="0"/>
                </a:moveTo>
                <a:lnTo>
                  <a:pt x="11310571" y="0"/>
                </a:lnTo>
                <a:lnTo>
                  <a:pt x="11310571" y="2426632"/>
                </a:lnTo>
                <a:lnTo>
                  <a:pt x="0" y="2426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472947" y="6489016"/>
            <a:ext cx="11310571" cy="2426632"/>
          </a:xfrm>
          <a:custGeom>
            <a:avLst/>
            <a:gdLst/>
            <a:ahLst/>
            <a:cxnLst/>
            <a:rect r="r" b="b" t="t" l="l"/>
            <a:pathLst>
              <a:path h="2426632" w="11310571">
                <a:moveTo>
                  <a:pt x="11310571" y="0"/>
                </a:moveTo>
                <a:lnTo>
                  <a:pt x="0" y="0"/>
                </a:lnTo>
                <a:lnTo>
                  <a:pt x="0" y="2426632"/>
                </a:lnTo>
                <a:lnTo>
                  <a:pt x="11310571" y="2426632"/>
                </a:lnTo>
                <a:lnTo>
                  <a:pt x="113105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30766" y="800997"/>
            <a:ext cx="11426469" cy="13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Company</a:t>
            </a: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 and Industry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865016"/>
            <a:ext cx="6964202" cy="198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3860" spc="-189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Recruiting inv</a:t>
            </a:r>
            <a:r>
              <a:rPr lang="en-US" sz="3860" spc="-189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olves many repetitive but high-value decisions</a:t>
            </a:r>
          </a:p>
          <a:p>
            <a:pPr algn="l">
              <a:lnSpc>
                <a:spcPts val="525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186059" y="6767675"/>
            <a:ext cx="7625628" cy="24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0"/>
              </a:lnSpc>
            </a:pPr>
            <a:r>
              <a:rPr lang="en-US" sz="3639" spc="-17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Recr</a:t>
            </a:r>
            <a:r>
              <a:rPr lang="en-US" sz="3639" spc="-17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uiters spend a lot of time searching, filtering, evaluating, and messaging candidates</a:t>
            </a:r>
          </a:p>
          <a:p>
            <a:pPr algn="just">
              <a:lnSpc>
                <a:spcPts val="495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828285" y="1889863"/>
            <a:ext cx="11289325" cy="265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1"/>
              </a:lnSpc>
            </a:pPr>
          </a:p>
          <a:p>
            <a:pPr algn="l">
              <a:lnSpc>
                <a:spcPts val="5251"/>
              </a:lnSpc>
            </a:pPr>
            <a:r>
              <a:rPr lang="en-US" sz="3861" spc="-189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LinkedIn is a</a:t>
            </a:r>
            <a:r>
              <a:rPr lang="en-US" sz="3861" spc="-189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 large professional networking platform , It operates in recruiting, hiring, and talent solutions</a:t>
            </a:r>
          </a:p>
          <a:p>
            <a:pPr algn="l">
              <a:lnSpc>
                <a:spcPts val="525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76314" y="5023374"/>
            <a:ext cx="17335373" cy="258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Why</a:t>
            </a: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 this industry matters</a:t>
            </a:r>
          </a:p>
          <a:p>
            <a:pPr algn="ctr">
              <a:lnSpc>
                <a:spcPts val="975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38562">
            <a:off x="-3335429" y="3400664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59567">
            <a:off x="11060447" y="-2982312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1137" y="625822"/>
            <a:ext cx="15765726" cy="258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Wh</a:t>
            </a: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at problem was LinkedIn solving?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10800000">
            <a:off x="7782923" y="2542289"/>
            <a:ext cx="17537171" cy="6823554"/>
          </a:xfrm>
          <a:custGeom>
            <a:avLst/>
            <a:gdLst/>
            <a:ahLst/>
            <a:cxnLst/>
            <a:rect r="r" b="b" t="t" l="l"/>
            <a:pathLst>
              <a:path h="6823554" w="17537171">
                <a:moveTo>
                  <a:pt x="17537171" y="0"/>
                </a:moveTo>
                <a:lnTo>
                  <a:pt x="0" y="0"/>
                </a:lnTo>
                <a:lnTo>
                  <a:pt x="0" y="6823554"/>
                </a:lnTo>
                <a:lnTo>
                  <a:pt x="17537171" y="6823554"/>
                </a:lnTo>
                <a:lnTo>
                  <a:pt x="175371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90240" y="3662137"/>
            <a:ext cx="12681273" cy="5703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3"/>
              </a:lnSpc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Recruiters often need to: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Understand hiring requirements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Search across very large talent pools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Evaluate many applicants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Write outreach messages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Keep the pipeline updated over time</a:t>
            </a:r>
          </a:p>
          <a:p>
            <a:pPr algn="l">
              <a:lnSpc>
                <a:spcPts val="649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078186" y="8719254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43673" y="9815316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43271" y="9815316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351259">
            <a:off x="215981" y="2566305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8"/>
                </a:lnTo>
                <a:lnTo>
                  <a:pt x="0" y="704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351259">
            <a:off x="1250533" y="3323885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351259">
            <a:off x="49301" y="3821967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0766" y="1276350"/>
            <a:ext cx="11426469" cy="13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What the System Does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238562">
            <a:off x="14593288" y="-4627856"/>
            <a:ext cx="11673943" cy="11313112"/>
          </a:xfrm>
          <a:custGeom>
            <a:avLst/>
            <a:gdLst/>
            <a:ahLst/>
            <a:cxnLst/>
            <a:rect r="r" b="b" t="t" l="l"/>
            <a:pathLst>
              <a:path h="11313112" w="11673943">
                <a:moveTo>
                  <a:pt x="0" y="0"/>
                </a:moveTo>
                <a:lnTo>
                  <a:pt x="11673943" y="0"/>
                </a:lnTo>
                <a:lnTo>
                  <a:pt x="11673943" y="11313112"/>
                </a:lnTo>
                <a:lnTo>
                  <a:pt x="0" y="11313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59567">
            <a:off x="-3594201" y="6424058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6" y="0"/>
                </a:lnTo>
                <a:lnTo>
                  <a:pt x="8277886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4742" y="3831288"/>
            <a:ext cx="5112991" cy="2599774"/>
          </a:xfrm>
          <a:custGeom>
            <a:avLst/>
            <a:gdLst/>
            <a:ahLst/>
            <a:cxnLst/>
            <a:rect r="r" b="b" t="t" l="l"/>
            <a:pathLst>
              <a:path h="2599774" w="5112991">
                <a:moveTo>
                  <a:pt x="0" y="0"/>
                </a:moveTo>
                <a:lnTo>
                  <a:pt x="5112991" y="0"/>
                </a:lnTo>
                <a:lnTo>
                  <a:pt x="5112991" y="2599774"/>
                </a:lnTo>
                <a:lnTo>
                  <a:pt x="0" y="2599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94566" y="3980430"/>
            <a:ext cx="5112991" cy="2599774"/>
          </a:xfrm>
          <a:custGeom>
            <a:avLst/>
            <a:gdLst/>
            <a:ahLst/>
            <a:cxnLst/>
            <a:rect r="r" b="b" t="t" l="l"/>
            <a:pathLst>
              <a:path h="2599774" w="5112991">
                <a:moveTo>
                  <a:pt x="0" y="0"/>
                </a:moveTo>
                <a:lnTo>
                  <a:pt x="5112991" y="0"/>
                </a:lnTo>
                <a:lnTo>
                  <a:pt x="5112991" y="2599774"/>
                </a:lnTo>
                <a:lnTo>
                  <a:pt x="0" y="2599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24244" y="3847046"/>
            <a:ext cx="5112991" cy="2599774"/>
          </a:xfrm>
          <a:custGeom>
            <a:avLst/>
            <a:gdLst/>
            <a:ahLst/>
            <a:cxnLst/>
            <a:rect r="r" b="b" t="t" l="l"/>
            <a:pathLst>
              <a:path h="2599774" w="5112991">
                <a:moveTo>
                  <a:pt x="0" y="0"/>
                </a:moveTo>
                <a:lnTo>
                  <a:pt x="5112991" y="0"/>
                </a:lnTo>
                <a:lnTo>
                  <a:pt x="5112991" y="2599775"/>
                </a:lnTo>
                <a:lnTo>
                  <a:pt x="0" y="25997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1726" y="3774138"/>
            <a:ext cx="3590164" cy="268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</a:p>
          <a:p>
            <a:pPr algn="ctr">
              <a:lnSpc>
                <a:spcPts val="5399"/>
              </a:lnSpc>
            </a:pPr>
            <a:r>
              <a:rPr lang="en-US" sz="3970" spc="-194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understand hiring needs</a:t>
            </a:r>
          </a:p>
          <a:p>
            <a:pPr algn="ctr">
              <a:lnSpc>
                <a:spcPts val="53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55980" y="4453846"/>
            <a:ext cx="3590164" cy="132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970" spc="-194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searc</a:t>
            </a:r>
            <a:r>
              <a:rPr lang="en-US" sz="3970" spc="-194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h for candidates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85658" y="4438088"/>
            <a:ext cx="3590164" cy="132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970" spc="-194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ev</a:t>
            </a:r>
            <a:r>
              <a:rPr lang="en-US" sz="3970" spc="-194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aluate applicants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374765" y="9025996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80015" y="9730533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79614" y="9730533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449867" y="2656527"/>
            <a:ext cx="9457156" cy="21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0"/>
              </a:lnSpc>
            </a:pPr>
            <a:r>
              <a:rPr lang="en-US" sz="8678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Hiring Assistant can:</a:t>
            </a:r>
          </a:p>
          <a:p>
            <a:pPr algn="ctr">
              <a:lnSpc>
                <a:spcPts val="807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38562">
            <a:off x="-4616255" y="-2982312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159567">
            <a:off x="14991036" y="5423852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94470">
            <a:off x="16851926" y="1148095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94470">
            <a:off x="17917130" y="1861932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494470">
            <a:off x="16737684" y="2409609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16889" y="3548798"/>
            <a:ext cx="15321091" cy="4363820"/>
          </a:xfrm>
          <a:custGeom>
            <a:avLst/>
            <a:gdLst/>
            <a:ahLst/>
            <a:cxnLst/>
            <a:rect r="r" b="b" t="t" l="l"/>
            <a:pathLst>
              <a:path h="4363820" w="15321091">
                <a:moveTo>
                  <a:pt x="0" y="0"/>
                </a:moveTo>
                <a:lnTo>
                  <a:pt x="15321091" y="0"/>
                </a:lnTo>
                <a:lnTo>
                  <a:pt x="15321091" y="4363820"/>
                </a:lnTo>
                <a:lnTo>
                  <a:pt x="0" y="43638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4434" r="0" b="-4305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16889" y="1276350"/>
            <a:ext cx="14054221" cy="13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How</a:t>
            </a: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 It Works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9429" y="686263"/>
            <a:ext cx="16230600" cy="13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Why</a:t>
            </a: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 It Is Agentic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159567">
            <a:off x="4738879" y="6353695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3"/>
                </a:lnTo>
                <a:lnTo>
                  <a:pt x="0" y="8022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533261" y="2035060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43376" y="2035060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8277885" y="0"/>
                </a:moveTo>
                <a:lnTo>
                  <a:pt x="0" y="0"/>
                </a:lnTo>
                <a:lnTo>
                  <a:pt x="0" y="8022024"/>
                </a:lnTo>
                <a:lnTo>
                  <a:pt x="8277885" y="8022024"/>
                </a:lnTo>
                <a:lnTo>
                  <a:pt x="827788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2048" y="3111362"/>
            <a:ext cx="9781569" cy="2098591"/>
          </a:xfrm>
          <a:custGeom>
            <a:avLst/>
            <a:gdLst/>
            <a:ahLst/>
            <a:cxnLst/>
            <a:rect r="r" b="b" t="t" l="l"/>
            <a:pathLst>
              <a:path h="2098591" w="9781569">
                <a:moveTo>
                  <a:pt x="0" y="0"/>
                </a:moveTo>
                <a:lnTo>
                  <a:pt x="9781569" y="0"/>
                </a:lnTo>
                <a:lnTo>
                  <a:pt x="9781569" y="2098591"/>
                </a:lnTo>
                <a:lnTo>
                  <a:pt x="0" y="2098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22048" y="5669573"/>
            <a:ext cx="9781569" cy="2098591"/>
          </a:xfrm>
          <a:custGeom>
            <a:avLst/>
            <a:gdLst/>
            <a:ahLst/>
            <a:cxnLst/>
            <a:rect r="r" b="b" t="t" l="l"/>
            <a:pathLst>
              <a:path h="2098591" w="9781569">
                <a:moveTo>
                  <a:pt x="0" y="0"/>
                </a:moveTo>
                <a:lnTo>
                  <a:pt x="9781569" y="0"/>
                </a:lnTo>
                <a:lnTo>
                  <a:pt x="9781569" y="2098591"/>
                </a:lnTo>
                <a:lnTo>
                  <a:pt x="0" y="2098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9428479" y="3111362"/>
            <a:ext cx="9781569" cy="2098591"/>
          </a:xfrm>
          <a:custGeom>
            <a:avLst/>
            <a:gdLst/>
            <a:ahLst/>
            <a:cxnLst/>
            <a:rect r="r" b="b" t="t" l="l"/>
            <a:pathLst>
              <a:path h="2098591" w="9781569">
                <a:moveTo>
                  <a:pt x="9781569" y="0"/>
                </a:moveTo>
                <a:lnTo>
                  <a:pt x="0" y="0"/>
                </a:lnTo>
                <a:lnTo>
                  <a:pt x="0" y="2098591"/>
                </a:lnTo>
                <a:lnTo>
                  <a:pt x="9781569" y="2098591"/>
                </a:lnTo>
                <a:lnTo>
                  <a:pt x="978156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9428479" y="5669573"/>
            <a:ext cx="9781569" cy="2098591"/>
          </a:xfrm>
          <a:custGeom>
            <a:avLst/>
            <a:gdLst/>
            <a:ahLst/>
            <a:cxnLst/>
            <a:rect r="r" b="b" t="t" l="l"/>
            <a:pathLst>
              <a:path h="2098591" w="9781569">
                <a:moveTo>
                  <a:pt x="9781569" y="0"/>
                </a:moveTo>
                <a:lnTo>
                  <a:pt x="0" y="0"/>
                </a:lnTo>
                <a:lnTo>
                  <a:pt x="0" y="2098591"/>
                </a:lnTo>
                <a:lnTo>
                  <a:pt x="9781569" y="2098591"/>
                </a:lnTo>
                <a:lnTo>
                  <a:pt x="978156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03775" y="3507296"/>
            <a:ext cx="5765188" cy="139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</a:pPr>
            <a:r>
              <a:rPr lang="en-US" sz="4129" spc="-202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it can ask c</a:t>
            </a:r>
            <a:r>
              <a:rPr lang="en-US" sz="4129" spc="-202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larifying questions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6163" y="6219603"/>
            <a:ext cx="5020412" cy="139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</a:pPr>
            <a:r>
              <a:rPr lang="en-US" sz="4129" spc="-202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it can plan and execute tasks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21943" y="3078660"/>
            <a:ext cx="5765188" cy="209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</a:pPr>
          </a:p>
          <a:p>
            <a:pPr algn="ctr">
              <a:lnSpc>
                <a:spcPts val="5615"/>
              </a:lnSpc>
            </a:pPr>
            <a:r>
              <a:rPr lang="en-US" sz="4129" spc="-202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it is multi-step</a:t>
            </a:r>
          </a:p>
          <a:p>
            <a:pPr algn="ctr">
              <a:lnSpc>
                <a:spcPts val="561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821943" y="5979397"/>
            <a:ext cx="5364155" cy="139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</a:pPr>
            <a:r>
              <a:rPr lang="en-US" sz="4129" spc="-202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it uses tools, memory, and orchestration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6682" y="1957971"/>
            <a:ext cx="11876093" cy="18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5"/>
              </a:lnSpc>
            </a:pPr>
            <a:r>
              <a:rPr lang="en-US" sz="7672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Wha</a:t>
            </a:r>
            <a:r>
              <a:rPr lang="en-US" sz="7672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t makes it agentic?</a:t>
            </a:r>
          </a:p>
          <a:p>
            <a:pPr algn="ctr">
              <a:lnSpc>
                <a:spcPts val="713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76350"/>
            <a:ext cx="11426469" cy="13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Wh</a:t>
            </a: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at Is Not Agentic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3969852">
            <a:off x="12302172" y="-1028657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59567">
            <a:off x="-2630146" y="2692283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6" y="0"/>
                </a:lnTo>
                <a:lnTo>
                  <a:pt x="8277886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28360">
            <a:off x="-2728088" y="4148290"/>
            <a:ext cx="14487142" cy="5110010"/>
          </a:xfrm>
          <a:custGeom>
            <a:avLst/>
            <a:gdLst/>
            <a:ahLst/>
            <a:cxnLst/>
            <a:rect r="r" b="b" t="t" l="l"/>
            <a:pathLst>
              <a:path h="5110010" w="14487142">
                <a:moveTo>
                  <a:pt x="0" y="0"/>
                </a:moveTo>
                <a:lnTo>
                  <a:pt x="14487142" y="0"/>
                </a:lnTo>
                <a:lnTo>
                  <a:pt x="14487142" y="5110010"/>
                </a:lnTo>
                <a:lnTo>
                  <a:pt x="0" y="5110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8524" y="4871818"/>
            <a:ext cx="8167945" cy="406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databases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ATS integrations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search infrastructure</a:t>
            </a:r>
          </a:p>
          <a:p>
            <a:pPr algn="l" marL="1030823" indent="-515411" lvl="1">
              <a:lnSpc>
                <a:spcPts val="6493"/>
              </a:lnSpc>
              <a:buFont typeface="Arial"/>
              <a:buChar char="•"/>
            </a:pPr>
            <a:r>
              <a:rPr lang="en-US" sz="4774" spc="-233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backend APIs</a:t>
            </a:r>
          </a:p>
          <a:p>
            <a:pPr algn="l">
              <a:lnSpc>
                <a:spcPts val="649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062673" y="7488894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28160" y="8584956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27759" y="8584956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62324" y="1028700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27811" y="2124762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9" y="0"/>
                </a:lnTo>
                <a:lnTo>
                  <a:pt x="727009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27410" y="2124762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74692" y="2576768"/>
            <a:ext cx="9414990" cy="10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4"/>
              </a:lnSpc>
            </a:pPr>
            <a:r>
              <a:rPr lang="en-US" sz="8639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Non-agentic parts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59567">
            <a:off x="12709035" y="4316467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4"/>
                </a:lnTo>
                <a:lnTo>
                  <a:pt x="0" y="802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45188" y="1276350"/>
            <a:ext cx="11426469" cy="13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1"/>
              </a:lnSpc>
            </a:pPr>
            <a:r>
              <a:rPr lang="en-US" sz="10485">
                <a:solidFill>
                  <a:srgbClr val="222F52"/>
                </a:solidFill>
                <a:latin typeface="Art Nuvo"/>
                <a:ea typeface="Art Nuvo"/>
                <a:cs typeface="Art Nuvo"/>
                <a:sym typeface="Art Nuvo"/>
              </a:rPr>
              <a:t>summary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238562">
            <a:off x="-2890214" y="-896165"/>
            <a:ext cx="8277885" cy="8022023"/>
          </a:xfrm>
          <a:custGeom>
            <a:avLst/>
            <a:gdLst/>
            <a:ahLst/>
            <a:cxnLst/>
            <a:rect r="r" b="b" t="t" l="l"/>
            <a:pathLst>
              <a:path h="8022023" w="8277885">
                <a:moveTo>
                  <a:pt x="0" y="0"/>
                </a:moveTo>
                <a:lnTo>
                  <a:pt x="8277885" y="0"/>
                </a:lnTo>
                <a:lnTo>
                  <a:pt x="8277885" y="8022023"/>
                </a:lnTo>
                <a:lnTo>
                  <a:pt x="0" y="8022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76214" y="2625147"/>
            <a:ext cx="13185359" cy="6328972"/>
          </a:xfrm>
          <a:custGeom>
            <a:avLst/>
            <a:gdLst/>
            <a:ahLst/>
            <a:cxnLst/>
            <a:rect r="r" b="b" t="t" l="l"/>
            <a:pathLst>
              <a:path h="6328972" w="13185359">
                <a:moveTo>
                  <a:pt x="0" y="0"/>
                </a:moveTo>
                <a:lnTo>
                  <a:pt x="13185360" y="0"/>
                </a:lnTo>
                <a:lnTo>
                  <a:pt x="13185360" y="6328973"/>
                </a:lnTo>
                <a:lnTo>
                  <a:pt x="0" y="63289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26985" y="3057697"/>
            <a:ext cx="16713177" cy="39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</a:p>
          <a:p>
            <a:pPr algn="l" marL="830311" indent="-415155" lvl="1">
              <a:lnSpc>
                <a:spcPts val="5230"/>
              </a:lnSpc>
              <a:buFont typeface="Arial"/>
              <a:buChar char="•"/>
            </a:pPr>
            <a:r>
              <a:rPr lang="en-US" sz="3845" spc="-18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LinkedIn Hiring Assistant </a:t>
            </a:r>
            <a:r>
              <a:rPr lang="en-US" sz="3845" spc="-18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is a strong</a:t>
            </a:r>
            <a:r>
              <a:rPr lang="en-US" sz="3845" spc="-18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 example of agentic AI</a:t>
            </a:r>
          </a:p>
          <a:p>
            <a:pPr algn="l" marL="830311" indent="-415155" lvl="1">
              <a:lnSpc>
                <a:spcPts val="5230"/>
              </a:lnSpc>
              <a:buFont typeface="Arial"/>
              <a:buChar char="•"/>
            </a:pPr>
            <a:r>
              <a:rPr lang="en-US" sz="3845" spc="-18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The agentic part is planning, tool use, memory, and sub-agents</a:t>
            </a:r>
          </a:p>
          <a:p>
            <a:pPr algn="l" marL="830311" indent="-415155" lvl="1">
              <a:lnSpc>
                <a:spcPts val="5230"/>
              </a:lnSpc>
              <a:buFont typeface="Arial"/>
              <a:buChar char="•"/>
            </a:pPr>
            <a:r>
              <a:rPr lang="en-US" sz="3845" spc="-18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The non-agentic part is the supporting software infrastructure</a:t>
            </a:r>
          </a:p>
          <a:p>
            <a:pPr algn="l" marL="830311" indent="-415155" lvl="1">
              <a:lnSpc>
                <a:spcPts val="5230"/>
              </a:lnSpc>
              <a:buFont typeface="Arial"/>
              <a:buChar char="•"/>
            </a:pPr>
            <a:r>
              <a:rPr lang="en-US" sz="3845" spc="-188">
                <a:solidFill>
                  <a:srgbClr val="222F52"/>
                </a:solidFill>
                <a:latin typeface="Lulu Font TH"/>
                <a:ea typeface="Lulu Font TH"/>
                <a:cs typeface="Lulu Font TH"/>
                <a:sym typeface="Lulu Font TH"/>
              </a:rPr>
              <a:t>Recruiters still stay in control of final decisions</a:t>
            </a:r>
          </a:p>
          <a:p>
            <a:pPr algn="l">
              <a:lnSpc>
                <a:spcPts val="523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31772" y="7858057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8"/>
                </a:lnTo>
                <a:lnTo>
                  <a:pt x="0" y="704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7259" y="8954120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96857" y="8954120"/>
            <a:ext cx="727008" cy="704537"/>
          </a:xfrm>
          <a:custGeom>
            <a:avLst/>
            <a:gdLst/>
            <a:ahLst/>
            <a:cxnLst/>
            <a:rect r="r" b="b" t="t" l="l"/>
            <a:pathLst>
              <a:path h="704537" w="727008">
                <a:moveTo>
                  <a:pt x="0" y="0"/>
                </a:moveTo>
                <a:lnTo>
                  <a:pt x="727008" y="0"/>
                </a:lnTo>
                <a:lnTo>
                  <a:pt x="727008" y="704537"/>
                </a:lnTo>
                <a:lnTo>
                  <a:pt x="0" y="7045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DAHDef3-A24</dc:identifier>
  <dcterms:modified xsi:type="dcterms:W3CDTF">2011-08-01T06:04:30Z</dcterms:modified>
  <cp:revision>1</cp:revision>
  <dc:title>Blue and Green Modern Illustrative Ramadan Mode Presentation</dc:title>
</cp:coreProperties>
</file>